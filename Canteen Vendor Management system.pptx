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60" r:id="rId7"/>
    <p:sldId id="258" r:id="rId8"/>
    <p:sldId id="261" r:id="rId9"/>
    <p:sldId id="262" r:id="rId10"/>
    <p:sldId id="283" r:id="rId11"/>
    <p:sldId id="264" r:id="rId12"/>
    <p:sldId id="266" r:id="rId13"/>
    <p:sldId id="284" r:id="rId14"/>
    <p:sldId id="267" r:id="rId15"/>
    <p:sldId id="269" r:id="rId16"/>
    <p:sldId id="268" r:id="rId17"/>
    <p:sldId id="28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20" d="100"/>
          <a:sy n="120" d="100"/>
        </p:scale>
        <p:origin x="120" y="19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4/3/2026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4/3/2026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1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761487" y="3478696"/>
            <a:ext cx="9117761" cy="681427"/>
          </a:xfrm>
        </p:spPr>
        <p:txBody>
          <a:bodyPr/>
          <a:lstStyle/>
          <a:p>
            <a:r>
              <a:rPr lang="en-US" sz="4000" dirty="0"/>
              <a:t>Canteen Vendor Management System</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3781640" y="4405421"/>
            <a:ext cx="7077456" cy="389216"/>
          </a:xfrm>
        </p:spPr>
        <p:txBody>
          <a:bodyPr/>
          <a:lstStyle/>
          <a:p>
            <a:pPr marL="0" indent="0">
              <a:buNone/>
            </a:pPr>
            <a:r>
              <a:rPr lang="en-US" dirty="0"/>
              <a:t>A reliable system to find suitable vendor for you!</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485928" y="2175401"/>
            <a:ext cx="3802767" cy="682138"/>
          </a:xfrm>
        </p:spPr>
        <p:txBody>
          <a:bodyPr>
            <a:normAutofit fontScale="90000"/>
          </a:bodyPr>
          <a:lstStyle/>
          <a:p>
            <a:r>
              <a:rPr lang="en-US" sz="4400" dirty="0"/>
              <a:t>Team Members</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8" name="TextBox 7">
            <a:extLst>
              <a:ext uri="{FF2B5EF4-FFF2-40B4-BE49-F238E27FC236}">
                <a16:creationId xmlns:a16="http://schemas.microsoft.com/office/drawing/2014/main" id="{8F2FDFC9-4EE0-F3C4-EF06-8ED93461DCB3}"/>
              </a:ext>
            </a:extLst>
          </p:cNvPr>
          <p:cNvSpPr txBox="1"/>
          <p:nvPr/>
        </p:nvSpPr>
        <p:spPr>
          <a:xfrm>
            <a:off x="3485929" y="3429000"/>
            <a:ext cx="3802767" cy="369332"/>
          </a:xfrm>
          <a:prstGeom prst="rect">
            <a:avLst/>
          </a:prstGeom>
          <a:noFill/>
        </p:spPr>
        <p:txBody>
          <a:bodyPr wrap="square" rtlCol="0">
            <a:spAutoFit/>
          </a:bodyPr>
          <a:lstStyle/>
          <a:p>
            <a:pPr algn="ctr"/>
            <a:r>
              <a:rPr lang="en-US" dirty="0" err="1">
                <a:solidFill>
                  <a:schemeClr val="bg1"/>
                </a:solidFill>
              </a:rPr>
              <a:t>Bitu</a:t>
            </a:r>
            <a:r>
              <a:rPr lang="en-US" dirty="0">
                <a:solidFill>
                  <a:schemeClr val="bg1"/>
                </a:solidFill>
              </a:rPr>
              <a:t> Roy - 0112310176</a:t>
            </a:r>
          </a:p>
        </p:txBody>
      </p:sp>
      <p:sp>
        <p:nvSpPr>
          <p:cNvPr id="13" name="TextBox 12">
            <a:extLst>
              <a:ext uri="{FF2B5EF4-FFF2-40B4-BE49-F238E27FC236}">
                <a16:creationId xmlns:a16="http://schemas.microsoft.com/office/drawing/2014/main" id="{B28B17BC-CA6A-7651-6524-D67E7DB6DB49}"/>
              </a:ext>
            </a:extLst>
          </p:cNvPr>
          <p:cNvSpPr txBox="1"/>
          <p:nvPr/>
        </p:nvSpPr>
        <p:spPr>
          <a:xfrm>
            <a:off x="3485929" y="3806283"/>
            <a:ext cx="3802767" cy="369332"/>
          </a:xfrm>
          <a:prstGeom prst="rect">
            <a:avLst/>
          </a:prstGeom>
          <a:noFill/>
        </p:spPr>
        <p:txBody>
          <a:bodyPr wrap="square" rtlCol="0">
            <a:spAutoFit/>
          </a:bodyPr>
          <a:lstStyle/>
          <a:p>
            <a:pPr algn="ctr"/>
            <a:r>
              <a:rPr lang="en-US" dirty="0">
                <a:solidFill>
                  <a:schemeClr val="bg1"/>
                </a:solidFill>
              </a:rPr>
              <a:t>Durjoy Chandra Das-0112310177</a:t>
            </a:r>
          </a:p>
        </p:txBody>
      </p:sp>
      <p:sp>
        <p:nvSpPr>
          <p:cNvPr id="14" name="TextBox 13">
            <a:extLst>
              <a:ext uri="{FF2B5EF4-FFF2-40B4-BE49-F238E27FC236}">
                <a16:creationId xmlns:a16="http://schemas.microsoft.com/office/drawing/2014/main" id="{7E9D1FA5-1B73-734C-CC43-6E65239431DC}"/>
              </a:ext>
            </a:extLst>
          </p:cNvPr>
          <p:cNvSpPr txBox="1"/>
          <p:nvPr/>
        </p:nvSpPr>
        <p:spPr>
          <a:xfrm>
            <a:off x="3485928" y="4183566"/>
            <a:ext cx="3802767" cy="369332"/>
          </a:xfrm>
          <a:prstGeom prst="rect">
            <a:avLst/>
          </a:prstGeom>
          <a:noFill/>
        </p:spPr>
        <p:txBody>
          <a:bodyPr wrap="square" rtlCol="0">
            <a:spAutoFit/>
          </a:bodyPr>
          <a:lstStyle/>
          <a:p>
            <a:pPr algn="ctr"/>
            <a:r>
              <a:rPr lang="en-US" dirty="0">
                <a:solidFill>
                  <a:schemeClr val="bg1"/>
                </a:solidFill>
              </a:rPr>
              <a:t>Abir </a:t>
            </a:r>
            <a:r>
              <a:rPr lang="en-US" dirty="0" err="1">
                <a:solidFill>
                  <a:schemeClr val="bg1"/>
                </a:solidFill>
              </a:rPr>
              <a:t>Korashi</a:t>
            </a:r>
            <a:r>
              <a:rPr lang="en-US" dirty="0">
                <a:solidFill>
                  <a:schemeClr val="bg1"/>
                </a:solidFill>
              </a:rPr>
              <a:t> </a:t>
            </a:r>
            <a:r>
              <a:rPr lang="en-US" dirty="0" err="1">
                <a:solidFill>
                  <a:schemeClr val="bg1"/>
                </a:solidFill>
              </a:rPr>
              <a:t>Symum</a:t>
            </a:r>
            <a:r>
              <a:rPr lang="en-US" dirty="0">
                <a:solidFill>
                  <a:schemeClr val="bg1"/>
                </a:solidFill>
              </a:rPr>
              <a:t> - 0112330396</a:t>
            </a:r>
          </a:p>
        </p:txBody>
      </p:sp>
      <p:sp>
        <p:nvSpPr>
          <p:cNvPr id="15" name="TextBox 14">
            <a:extLst>
              <a:ext uri="{FF2B5EF4-FFF2-40B4-BE49-F238E27FC236}">
                <a16:creationId xmlns:a16="http://schemas.microsoft.com/office/drawing/2014/main" id="{041FE6C2-F25C-CDA4-3567-2C5D212B41A4}"/>
              </a:ext>
            </a:extLst>
          </p:cNvPr>
          <p:cNvSpPr txBox="1"/>
          <p:nvPr/>
        </p:nvSpPr>
        <p:spPr>
          <a:xfrm>
            <a:off x="3485928" y="4550999"/>
            <a:ext cx="3802767" cy="369332"/>
          </a:xfrm>
          <a:prstGeom prst="rect">
            <a:avLst/>
          </a:prstGeom>
          <a:noFill/>
        </p:spPr>
        <p:txBody>
          <a:bodyPr wrap="square" rtlCol="0">
            <a:spAutoFit/>
          </a:bodyPr>
          <a:lstStyle/>
          <a:p>
            <a:pPr algn="ctr"/>
            <a:r>
              <a:rPr lang="en-US" dirty="0" err="1">
                <a:solidFill>
                  <a:schemeClr val="bg1"/>
                </a:solidFill>
              </a:rPr>
              <a:t>Mst</a:t>
            </a:r>
            <a:r>
              <a:rPr lang="en-US" dirty="0">
                <a:solidFill>
                  <a:schemeClr val="bg1"/>
                </a:solidFill>
              </a:rPr>
              <a:t>. </a:t>
            </a:r>
            <a:r>
              <a:rPr lang="en-US" dirty="0" err="1">
                <a:solidFill>
                  <a:schemeClr val="bg1"/>
                </a:solidFill>
              </a:rPr>
              <a:t>Esrat</a:t>
            </a:r>
            <a:r>
              <a:rPr lang="en-US" dirty="0">
                <a:solidFill>
                  <a:schemeClr val="bg1"/>
                </a:solidFill>
              </a:rPr>
              <a:t> Ansary - 0112330477</a:t>
            </a:r>
          </a:p>
        </p:txBody>
      </p:sp>
      <p:sp>
        <p:nvSpPr>
          <p:cNvPr id="16" name="TextBox 15">
            <a:extLst>
              <a:ext uri="{FF2B5EF4-FFF2-40B4-BE49-F238E27FC236}">
                <a16:creationId xmlns:a16="http://schemas.microsoft.com/office/drawing/2014/main" id="{12059271-19EE-07AC-41B0-456F367661A5}"/>
              </a:ext>
            </a:extLst>
          </p:cNvPr>
          <p:cNvSpPr txBox="1"/>
          <p:nvPr/>
        </p:nvSpPr>
        <p:spPr>
          <a:xfrm>
            <a:off x="3485928" y="4928282"/>
            <a:ext cx="3802767" cy="369332"/>
          </a:xfrm>
          <a:prstGeom prst="rect">
            <a:avLst/>
          </a:prstGeom>
          <a:noFill/>
        </p:spPr>
        <p:txBody>
          <a:bodyPr wrap="square" rtlCol="0">
            <a:spAutoFit/>
          </a:bodyPr>
          <a:lstStyle/>
          <a:p>
            <a:pPr algn="ctr"/>
            <a:r>
              <a:rPr lang="en-US">
                <a:solidFill>
                  <a:schemeClr val="bg1"/>
                </a:solidFill>
              </a:rPr>
              <a:t>Abdullah Al Galib - 0112330480</a:t>
            </a:r>
            <a:endParaRPr lang="en-US" dirty="0">
              <a:solidFill>
                <a:schemeClr val="bg1"/>
              </a:solidFill>
            </a:endParaRP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543272" y="1983851"/>
            <a:ext cx="4757663" cy="719593"/>
          </a:xfrm>
        </p:spPr>
        <p:txBody>
          <a:bodyPr>
            <a:normAutofit/>
          </a:bodyPr>
          <a:lstStyle/>
          <a:p>
            <a:r>
              <a:rPr lang="en-US" sz="4400" dirty="0"/>
              <a:t>Short Description</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3" name="TextBox 2">
            <a:extLst>
              <a:ext uri="{FF2B5EF4-FFF2-40B4-BE49-F238E27FC236}">
                <a16:creationId xmlns:a16="http://schemas.microsoft.com/office/drawing/2014/main" id="{598B280A-AD77-B94D-4773-9AEC311153BB}"/>
              </a:ext>
            </a:extLst>
          </p:cNvPr>
          <p:cNvSpPr txBox="1"/>
          <p:nvPr/>
        </p:nvSpPr>
        <p:spPr>
          <a:xfrm>
            <a:off x="543272" y="3373340"/>
            <a:ext cx="7156176" cy="2246769"/>
          </a:xfrm>
          <a:prstGeom prst="rect">
            <a:avLst/>
          </a:prstGeom>
          <a:noFill/>
        </p:spPr>
        <p:txBody>
          <a:bodyPr wrap="square" rtlCol="0">
            <a:spAutoFit/>
          </a:bodyPr>
          <a:lstStyle/>
          <a:p>
            <a:r>
              <a:rPr lang="en-US" sz="2000" dirty="0">
                <a:solidFill>
                  <a:schemeClr val="bg1"/>
                </a:solidFill>
              </a:rPr>
              <a:t>A web-based platform where university authorities or the canteen committee select vendors through a transparent, data-driven process. Vendors submit proposals (pricing, menu, hygiene) while students provide ratings and reviews. The system includes meeting management, performance dashboards, analytics, and notifications ensuring quality food, fair selection, and active student involvement.</a:t>
            </a:r>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762552" y="1950305"/>
            <a:ext cx="3054074" cy="701731"/>
          </a:xfrm>
        </p:spPr>
        <p:txBody>
          <a:bodyPr/>
          <a:lstStyle/>
          <a:p>
            <a:r>
              <a:rPr lang="en-US" sz="4400" dirty="0"/>
              <a:t>Motivation</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762552" y="3064571"/>
            <a:ext cx="6718300" cy="2557001"/>
          </a:xfrm>
        </p:spPr>
        <p:txBody>
          <a:bodyPr/>
          <a:lstStyle/>
          <a:p>
            <a:pPr marL="0" indent="0">
              <a:buNone/>
            </a:pPr>
            <a:r>
              <a:rPr lang="en-US" sz="2000" dirty="0"/>
              <a:t>This project aims to solve these problems by introducing a transparent, fair, and data-driven system. It will:</a:t>
            </a:r>
          </a:p>
          <a:p>
            <a:r>
              <a:rPr lang="en-US" sz="2000" dirty="0"/>
              <a:t>Improve food quality and service</a:t>
            </a:r>
          </a:p>
          <a:p>
            <a:r>
              <a:rPr lang="en-US" sz="2000" dirty="0"/>
              <a:t>Ensure fair vendor selection</a:t>
            </a:r>
          </a:p>
          <a:p>
            <a:r>
              <a:rPr lang="en-US" sz="2000" dirty="0"/>
              <a:t>Allow students to share real feedback</a:t>
            </a:r>
          </a:p>
          <a:p>
            <a:r>
              <a:rPr lang="en-US" sz="2000" dirty="0"/>
              <a:t>Help authorities make better decisions using data</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endParaRPr lang="en-US" dirty="0"/>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a:xfrm>
            <a:off x="444500" y="1681163"/>
            <a:ext cx="5157787" cy="535531"/>
          </a:xfrm>
        </p:spPr>
        <p:txBody>
          <a:bodyPr>
            <a:normAutofit/>
          </a:bodyPr>
          <a:lstStyle/>
          <a:p>
            <a:r>
              <a:rPr lang="en-US" sz="2400" dirty="0"/>
              <a:t>Scopes</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a:xfrm>
            <a:off x="6500812" y="1681163"/>
            <a:ext cx="5157788" cy="535531"/>
          </a:xfrm>
        </p:spPr>
        <p:txBody>
          <a:bodyPr>
            <a:normAutofit/>
          </a:bodyPr>
          <a:lstStyle/>
          <a:p>
            <a:r>
              <a:rPr lang="en-US" sz="2400" dirty="0"/>
              <a:t>Features</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lstStyle/>
          <a:p>
            <a:r>
              <a:rPr lang="en-US" dirty="0"/>
              <a:t>Authenticity: Each  evaluation, selection, and contract tracking.</a:t>
            </a:r>
          </a:p>
          <a:p>
            <a:r>
              <a:rPr lang="en-US" strike="sngStrike" dirty="0"/>
              <a:t>Student Participation</a:t>
            </a:r>
            <a:r>
              <a:rPr lang="en-US" dirty="0"/>
              <a:t>: Ratings, reviews, and complaints integrated into vendor performance monitoring.</a:t>
            </a:r>
          </a:p>
          <a:p>
            <a:r>
              <a:rPr lang="en-US" dirty="0"/>
              <a:t>Authority Tools: Meeting scheduling, dashboards, analytics, and notifications for transparent decision‑making.</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a:xfrm>
            <a:off x="6475412" y="2240962"/>
            <a:ext cx="5183188" cy="3684588"/>
          </a:xfrm>
        </p:spPr>
        <p:txBody>
          <a:bodyPr>
            <a:normAutofit lnSpcReduction="10000"/>
          </a:bodyPr>
          <a:lstStyle/>
          <a:p>
            <a:r>
              <a:rPr lang="en-US" dirty="0"/>
              <a:t>Authority Tools</a:t>
            </a:r>
          </a:p>
          <a:p>
            <a:r>
              <a:rPr lang="en-US" dirty="0"/>
              <a:t>Vendor Registration &amp; Profile</a:t>
            </a:r>
          </a:p>
          <a:p>
            <a:r>
              <a:rPr lang="en-US" dirty="0"/>
              <a:t>Vendor Selection &amp; Evaluation</a:t>
            </a:r>
          </a:p>
          <a:p>
            <a:r>
              <a:rPr lang="en-US" dirty="0"/>
              <a:t>Student/Faculty/Staff Review &amp; Rating</a:t>
            </a:r>
          </a:p>
          <a:p>
            <a:r>
              <a:rPr lang="en-US" dirty="0"/>
              <a:t>Meeting &amp; Interview Scheduling</a:t>
            </a:r>
          </a:p>
          <a:p>
            <a:r>
              <a:rPr lang="en-US" dirty="0"/>
              <a:t>Notification System</a:t>
            </a:r>
          </a:p>
          <a:p>
            <a:r>
              <a:rPr lang="en-US" dirty="0"/>
              <a:t>Role-Based Access Control</a:t>
            </a:r>
          </a:p>
          <a:p>
            <a:r>
              <a:rPr lang="en-US" dirty="0"/>
              <a:t>Food Item(s) Wishlist Integration</a:t>
            </a:r>
          </a:p>
          <a:p>
            <a:r>
              <a:rPr lang="en-US" dirty="0"/>
              <a:t>Anonymous Student Voting</a:t>
            </a:r>
          </a:p>
          <a:p>
            <a:r>
              <a:rPr lang="en-US" dirty="0"/>
              <a:t>Event-based Vendor Selection</a:t>
            </a:r>
          </a:p>
          <a:p>
            <a:endParaRPr lang="en-US" dirty="0"/>
          </a:p>
          <a:p>
            <a:endParaRPr lang="en-US" dirty="0"/>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a:t>
            </a:r>
          </a:p>
        </p:txBody>
      </p:sp>
      <p:pic>
        <p:nvPicPr>
          <p:cNvPr id="25" name="Picture Placeholder 24" descr="Bar chart">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t="63" b="63"/>
          <a:stretch>
            <a:fillRect/>
          </a:stretch>
        </p:blipFill>
        <p:spPr>
          <a:xfrm>
            <a:off x="978212" y="2096716"/>
            <a:ext cx="1259505" cy="1259505"/>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pic>
        <p:nvPicPr>
          <p:cNvPr id="27" name="Picture Placeholder 26" descr="Clock">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a:fillRect/>
          </a:stretch>
        </p:blipFill>
        <p:spPr/>
      </p:pic>
      <p:sp>
        <p:nvSpPr>
          <p:cNvPr id="20" name="Text Placeholder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a:lstStyle/>
          <a:p>
            <a:r>
              <a:rPr lang="en-US" dirty="0"/>
              <a:t>Caption02 appears here</a:t>
            </a:r>
          </a:p>
        </p:txBody>
      </p:sp>
      <p:pic>
        <p:nvPicPr>
          <p:cNvPr id="29" name="Picture Placeholder 28" descr="Microscope">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t="63" b="63"/>
          <a:stretch>
            <a:fillRect/>
          </a:stretch>
        </p:blipFill>
        <p:spPr/>
      </p:pic>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pic>
        <p:nvPicPr>
          <p:cNvPr id="31" name="Picture Placeholder 30" descr="Magnifying glass">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a:fillRect/>
          </a:stretch>
        </p:blipFill>
        <p:spPr/>
      </p:pic>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pic>
        <p:nvPicPr>
          <p:cNvPr id="33" name="Picture Placeholder 32" descr="Head with Gears">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rcRect t="63" b="63"/>
          <a:stretch>
            <a:fillRect/>
          </a:stretch>
        </p:blipFill>
        <p:spPr/>
      </p:pic>
      <p:sp>
        <p:nvSpPr>
          <p:cNvPr id="23" name="Text Placeholder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a:lstStyle/>
          <a:p>
            <a:r>
              <a:rPr lang="en-US" dirty="0"/>
              <a:t>Caption05 appears here</a:t>
            </a:r>
          </a:p>
        </p:txBody>
      </p:sp>
      <p:sp>
        <p:nvSpPr>
          <p:cNvPr id="2" name="Slide Number Placeholder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03</a:t>
            </a:r>
          </a:p>
        </p:txBody>
      </p:sp>
      <p:pic>
        <p:nvPicPr>
          <p:cNvPr id="20" name="Picture Placeholder 19" descr="Triangular pattern design with dimension">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2">
            <a:extLst>
              <a:ext uri="{28A0092B-C50C-407E-A947-70E740481C1C}">
                <a14:useLocalDpi xmlns:a14="http://schemas.microsoft.com/office/drawing/2010/main" val="0"/>
              </a:ext>
            </a:extLst>
          </a:blip>
          <a:srcRect/>
          <a:stretch>
            <a:fillRect/>
          </a:stretch>
        </p:blipFill>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Caption01 appears here</a:t>
            </a:r>
          </a:p>
        </p:txBody>
      </p:sp>
      <p:sp>
        <p:nvSpPr>
          <p:cNvPr id="21" name="Text Placeholder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a:lstStyle/>
          <a:p>
            <a:r>
              <a:rPr lang="en-US" dirty="0"/>
              <a:t>Caption03 appears here</a:t>
            </a:r>
          </a:p>
        </p:txBody>
      </p:sp>
      <p:sp>
        <p:nvSpPr>
          <p:cNvPr id="22" name="Text Placeholder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a:lstStyle/>
          <a:p>
            <a:r>
              <a:rPr lang="en-US" dirty="0"/>
              <a:t>Caption04 appears here</a:t>
            </a:r>
          </a:p>
        </p:txBody>
      </p:sp>
      <p:sp>
        <p:nvSpPr>
          <p:cNvPr id="2" name="Slide Number Placeholder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p:txBody>
          <a:bodyPr/>
          <a:lstStyle/>
          <a:p>
            <a:r>
              <a:rPr lang="en-US" dirty="0"/>
              <a:t>Content Title 04</a:t>
            </a:r>
          </a:p>
        </p:txBody>
      </p:sp>
      <p:pic>
        <p:nvPicPr>
          <p:cNvPr id="8" name="Picture Placeholder 7" descr="Triangular pattern design with dimension">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2">
            <a:extLst>
              <a:ext uri="{28A0092B-C50C-407E-A947-70E740481C1C}">
                <a14:useLocalDpi xmlns:a14="http://schemas.microsoft.com/office/drawing/2010/main" val="0"/>
              </a:ext>
            </a:extLst>
          </a:blip>
          <a:srcRect/>
          <a:stretch/>
        </p:blipFill>
        <p:spPr>
          <a:xfrm>
            <a:off x="-2" y="1352575"/>
            <a:ext cx="12192002" cy="2289897"/>
          </a:xfrm>
        </p:spPr>
      </p:pic>
      <p:sp>
        <p:nvSpPr>
          <p:cNvPr id="19" name="Text Placeholder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a:lstStyle/>
          <a:p>
            <a:r>
              <a:rPr lang="en-US" dirty="0"/>
              <a:t>Lorem ipsum dolor sit amet, consectetuer adipiscing elit. Maecenas porttitor congue massa. Fusce posuere, magna sed pulvinar ultricies, purus lectus malesuada libero, sit amet commodo magna eros quis urna. Nunc viverra imperdiet enim. Fusce est. Vivamus a tellus.</a:t>
            </a:r>
          </a:p>
          <a:p>
            <a:r>
              <a:rPr lang="en-US" dirty="0"/>
              <a:t>Pellentesque habitant morbi tristique senectus et netus et malesuada fames ac turpis egestas. Proin pharetra nonummy pede. Mauris et orci.</a:t>
            </a:r>
          </a:p>
        </p:txBody>
      </p:sp>
      <p:sp>
        <p:nvSpPr>
          <p:cNvPr id="2" name="Slide Number Placeholder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01323FB-427E-4A8D-B473-AB0657D8D23B}"/>
              </a:ext>
            </a:extLst>
          </p:cNvPr>
          <p:cNvSpPr>
            <a:spLocks noGrp="1"/>
          </p:cNvSpPr>
          <p:nvPr>
            <p:ph type="title"/>
          </p:nvPr>
        </p:nvSpPr>
        <p:spPr>
          <a:xfrm>
            <a:off x="380889" y="471364"/>
            <a:ext cx="1487667" cy="689526"/>
          </a:xfrm>
        </p:spPr>
        <p:txBody>
          <a:bodyPr/>
          <a:lstStyle/>
          <a:p>
            <a:r>
              <a:rPr lang="en-US" sz="4400" dirty="0"/>
              <a:t>Tools</a:t>
            </a:r>
          </a:p>
        </p:txBody>
      </p:sp>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3" name="TextBox 2">
            <a:extLst>
              <a:ext uri="{FF2B5EF4-FFF2-40B4-BE49-F238E27FC236}">
                <a16:creationId xmlns:a16="http://schemas.microsoft.com/office/drawing/2014/main" id="{FB9B4C53-FBF6-F84E-925A-5E9DE911E220}"/>
              </a:ext>
            </a:extLst>
          </p:cNvPr>
          <p:cNvSpPr txBox="1"/>
          <p:nvPr/>
        </p:nvSpPr>
        <p:spPr>
          <a:xfrm>
            <a:off x="922349" y="1455089"/>
            <a:ext cx="4850298" cy="1477328"/>
          </a:xfrm>
          <a:prstGeom prst="rect">
            <a:avLst/>
          </a:prstGeom>
          <a:noFill/>
        </p:spPr>
        <p:txBody>
          <a:bodyPr wrap="square" rtlCol="0">
            <a:spAutoFit/>
          </a:bodyPr>
          <a:lstStyle/>
          <a:p>
            <a:r>
              <a:rPr lang="en-US" b="1" dirty="0">
                <a:solidFill>
                  <a:schemeClr val="bg1"/>
                </a:solidFill>
              </a:rPr>
              <a:t>Backend:</a:t>
            </a:r>
          </a:p>
          <a:p>
            <a:endParaRPr lang="en-US" b="1" dirty="0">
              <a:solidFill>
                <a:schemeClr val="bg1"/>
              </a:solidFill>
            </a:endParaRPr>
          </a:p>
          <a:p>
            <a:pPr marL="342900" indent="-342900">
              <a:buFont typeface="Arial" panose="020B0604020202020204" pitchFamily="34" charset="0"/>
              <a:buChar char="•"/>
            </a:pPr>
            <a:r>
              <a:rPr lang="en-US" b="1" dirty="0">
                <a:solidFill>
                  <a:schemeClr val="bg1"/>
                </a:solidFill>
              </a:rPr>
              <a:t>Language: </a:t>
            </a:r>
            <a:r>
              <a:rPr lang="en-US" dirty="0">
                <a:solidFill>
                  <a:schemeClr val="bg1"/>
                </a:solidFill>
              </a:rPr>
              <a:t>Java</a:t>
            </a:r>
          </a:p>
          <a:p>
            <a:pPr marL="342900" indent="-342900">
              <a:buFont typeface="Arial" panose="020B0604020202020204" pitchFamily="34" charset="0"/>
              <a:buChar char="•"/>
            </a:pPr>
            <a:r>
              <a:rPr lang="en-US" b="1" dirty="0">
                <a:solidFill>
                  <a:schemeClr val="bg1"/>
                </a:solidFill>
              </a:rPr>
              <a:t>Database: </a:t>
            </a:r>
            <a:r>
              <a:rPr lang="en-US" dirty="0">
                <a:solidFill>
                  <a:schemeClr val="bg1"/>
                </a:solidFill>
              </a:rPr>
              <a:t>PostgreSQL</a:t>
            </a:r>
          </a:p>
          <a:p>
            <a:pPr marL="342900" indent="-342900">
              <a:buFont typeface="Arial" panose="020B0604020202020204" pitchFamily="34" charset="0"/>
              <a:buChar char="•"/>
            </a:pPr>
            <a:r>
              <a:rPr lang="en-US" b="1" dirty="0">
                <a:solidFill>
                  <a:schemeClr val="bg1"/>
                </a:solidFill>
              </a:rPr>
              <a:t>Auth: </a:t>
            </a:r>
            <a:r>
              <a:rPr lang="en-US" dirty="0">
                <a:solidFill>
                  <a:schemeClr val="bg1"/>
                </a:solidFill>
              </a:rPr>
              <a:t>JWT + OAuth (Google)</a:t>
            </a:r>
          </a:p>
        </p:txBody>
      </p:sp>
      <p:sp>
        <p:nvSpPr>
          <p:cNvPr id="4" name="TextBox 3">
            <a:extLst>
              <a:ext uri="{FF2B5EF4-FFF2-40B4-BE49-F238E27FC236}">
                <a16:creationId xmlns:a16="http://schemas.microsoft.com/office/drawing/2014/main" id="{028CFBB7-CC28-BD2C-0CC9-A7B0E0CA11CB}"/>
              </a:ext>
            </a:extLst>
          </p:cNvPr>
          <p:cNvSpPr txBox="1"/>
          <p:nvPr/>
        </p:nvSpPr>
        <p:spPr>
          <a:xfrm>
            <a:off x="922349" y="3088116"/>
            <a:ext cx="4850298" cy="1200329"/>
          </a:xfrm>
          <a:prstGeom prst="rect">
            <a:avLst/>
          </a:prstGeom>
          <a:noFill/>
        </p:spPr>
        <p:txBody>
          <a:bodyPr wrap="square" rtlCol="0">
            <a:spAutoFit/>
          </a:bodyPr>
          <a:lstStyle/>
          <a:p>
            <a:r>
              <a:rPr lang="en-US" b="1" dirty="0">
                <a:solidFill>
                  <a:schemeClr val="bg1"/>
                </a:solidFill>
              </a:rPr>
              <a:t>Frontend:</a:t>
            </a:r>
          </a:p>
          <a:p>
            <a:endParaRPr lang="en-US" b="1" dirty="0">
              <a:solidFill>
                <a:schemeClr val="bg1"/>
              </a:solidFill>
            </a:endParaRPr>
          </a:p>
          <a:p>
            <a:pPr marL="342900" indent="-342900">
              <a:buFont typeface="Arial" panose="020B0604020202020204" pitchFamily="34" charset="0"/>
              <a:buChar char="•"/>
            </a:pPr>
            <a:r>
              <a:rPr lang="en-US" b="1" dirty="0">
                <a:solidFill>
                  <a:schemeClr val="bg1"/>
                </a:solidFill>
              </a:rPr>
              <a:t>Framework: </a:t>
            </a:r>
            <a:r>
              <a:rPr lang="en-US" dirty="0">
                <a:solidFill>
                  <a:schemeClr val="bg1"/>
                </a:solidFill>
              </a:rPr>
              <a:t>React.js with Tailwind CSS</a:t>
            </a:r>
          </a:p>
          <a:p>
            <a:pPr marL="342900" indent="-342900">
              <a:buFont typeface="Arial" panose="020B0604020202020204" pitchFamily="34" charset="0"/>
              <a:buChar char="•"/>
            </a:pPr>
            <a:r>
              <a:rPr lang="en-US" b="1" dirty="0">
                <a:solidFill>
                  <a:schemeClr val="bg1"/>
                </a:solidFill>
              </a:rPr>
              <a:t>Charts: </a:t>
            </a:r>
            <a:r>
              <a:rPr lang="en-US" dirty="0">
                <a:solidFill>
                  <a:schemeClr val="bg1"/>
                </a:solidFill>
              </a:rPr>
              <a:t>Chart.js</a:t>
            </a:r>
          </a:p>
        </p:txBody>
      </p:sp>
      <p:sp>
        <p:nvSpPr>
          <p:cNvPr id="7" name="TextBox 6">
            <a:extLst>
              <a:ext uri="{FF2B5EF4-FFF2-40B4-BE49-F238E27FC236}">
                <a16:creationId xmlns:a16="http://schemas.microsoft.com/office/drawing/2014/main" id="{76BF3D4A-3AB4-0587-277E-93485F05D7E4}"/>
              </a:ext>
            </a:extLst>
          </p:cNvPr>
          <p:cNvSpPr txBox="1"/>
          <p:nvPr/>
        </p:nvSpPr>
        <p:spPr>
          <a:xfrm>
            <a:off x="922349" y="4579317"/>
            <a:ext cx="4850298" cy="1477328"/>
          </a:xfrm>
          <a:prstGeom prst="rect">
            <a:avLst/>
          </a:prstGeom>
          <a:noFill/>
        </p:spPr>
        <p:txBody>
          <a:bodyPr wrap="square" rtlCol="0">
            <a:spAutoFit/>
          </a:bodyPr>
          <a:lstStyle/>
          <a:p>
            <a:r>
              <a:rPr lang="en-US" b="1" dirty="0">
                <a:solidFill>
                  <a:schemeClr val="bg1"/>
                </a:solidFill>
              </a:rPr>
              <a:t>DevOps:</a:t>
            </a:r>
          </a:p>
          <a:p>
            <a:endParaRPr lang="en-US" b="1" dirty="0">
              <a:solidFill>
                <a:schemeClr val="bg1"/>
              </a:solidFill>
            </a:endParaRPr>
          </a:p>
          <a:p>
            <a:pPr marL="342900" indent="-342900">
              <a:buFont typeface="Arial" panose="020B0604020202020204" pitchFamily="34" charset="0"/>
              <a:buChar char="•"/>
            </a:pPr>
            <a:r>
              <a:rPr lang="en-US" b="1" dirty="0">
                <a:solidFill>
                  <a:schemeClr val="bg1"/>
                </a:solidFill>
              </a:rPr>
              <a:t>Development: </a:t>
            </a:r>
            <a:r>
              <a:rPr lang="en-US" dirty="0">
                <a:solidFill>
                  <a:schemeClr val="bg1"/>
                </a:solidFill>
              </a:rPr>
              <a:t>Docker, Nginx</a:t>
            </a:r>
          </a:p>
          <a:p>
            <a:pPr marL="342900" indent="-342900">
              <a:buFont typeface="Arial" panose="020B0604020202020204" pitchFamily="34" charset="0"/>
              <a:buChar char="•"/>
            </a:pPr>
            <a:r>
              <a:rPr lang="en-US" b="1" dirty="0">
                <a:solidFill>
                  <a:schemeClr val="bg1"/>
                </a:solidFill>
              </a:rPr>
              <a:t>CI/CD: </a:t>
            </a:r>
            <a:r>
              <a:rPr lang="en-US" dirty="0">
                <a:solidFill>
                  <a:schemeClr val="bg1"/>
                </a:solidFill>
              </a:rPr>
              <a:t>GitHub Actions</a:t>
            </a:r>
          </a:p>
          <a:p>
            <a:pPr marL="342900" indent="-342900">
              <a:buFont typeface="Arial" panose="020B0604020202020204" pitchFamily="34" charset="0"/>
              <a:buChar char="•"/>
            </a:pPr>
            <a:r>
              <a:rPr lang="en-US" b="1" dirty="0">
                <a:solidFill>
                  <a:schemeClr val="bg1"/>
                </a:solidFill>
              </a:rPr>
              <a:t>Monitoring: </a:t>
            </a:r>
            <a:r>
              <a:rPr lang="en-US" dirty="0">
                <a:solidFill>
                  <a:schemeClr val="bg1"/>
                </a:solidFill>
              </a:rPr>
              <a:t>Sentry / Prometheus</a:t>
            </a:r>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a:lstStyle/>
          <a:p>
            <a:fld id="{C263D6C4-4840-40CC-AC84-17E24B3B7BDE}" type="slidenum">
              <a:rPr lang="en-US" smtClean="0">
                <a:solidFill>
                  <a:schemeClr val="bg1">
                    <a:lumMod val="65000"/>
                  </a:schemeClr>
                </a:solidFill>
              </a:rPr>
              <a:pPr/>
              <a:t>10</a:t>
            </a:fld>
            <a:endParaRPr lang="en-US" dirty="0">
              <a:solidFill>
                <a:schemeClr val="bg1">
                  <a:lumMod val="65000"/>
                </a:schemeClr>
              </a:solidFill>
            </a:endParaRPr>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551057" cy="2859313"/>
          </a:xfrm>
        </p:spPr>
        <p:txBody>
          <a:bodyPr/>
          <a:lstStyle/>
          <a:p>
            <a:r>
              <a:rPr lang="en-US" dirty="0"/>
              <a:t>Quote appears here </a:t>
            </a:r>
            <a:br>
              <a:rPr lang="en-US" dirty="0"/>
            </a:br>
            <a:r>
              <a:rPr lang="en-US" dirty="0"/>
              <a:t>Lorem ipsum dolor sit amet, consectetuer adipiscing elit.” </a:t>
            </a:r>
            <a:br>
              <a:rPr lang="en-US" dirty="0"/>
            </a:br>
            <a:r>
              <a:rPr lang="en-US" sz="2400" dirty="0"/>
              <a:t>- Author</a:t>
            </a:r>
            <a:endParaRPr lang="en-US" dirty="0"/>
          </a:p>
        </p:txBody>
      </p:sp>
      <p:sp>
        <p:nvSpPr>
          <p:cNvPr id="2" name="Slide Number Placeholder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1</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2</a:t>
            </a:r>
            <a:endParaRPr 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359</TotalTime>
  <Words>419</Words>
  <Application>Microsoft Office PowerPoint</Application>
  <PresentationFormat>Widescreen</PresentationFormat>
  <Paragraphs>73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Trade Gothic LT Pro</vt:lpstr>
      <vt:lpstr>Trebuchet MS</vt:lpstr>
      <vt:lpstr>Office Theme</vt:lpstr>
      <vt:lpstr>Canteen Vendor Management System</vt:lpstr>
      <vt:lpstr>Team Members</vt:lpstr>
      <vt:lpstr>Short Description</vt:lpstr>
      <vt:lpstr>Motivation</vt:lpstr>
      <vt:lpstr>PowerPoint Presentation</vt:lpstr>
      <vt:lpstr>Content Title</vt:lpstr>
      <vt:lpstr>Content Title 03</vt:lpstr>
      <vt:lpstr>Content Title 04</vt:lpstr>
      <vt:lpstr>Tools</vt:lpstr>
      <vt:lpstr>PowerPoint Presentation</vt:lpstr>
      <vt:lpstr>Quote appears here  Lorem ipsum dolor sit amet, consectetuer adipiscing elit.”  - Author</vt:lpstr>
      <vt:lpstr>Thank You 1</vt:lpstr>
      <vt:lpstr>Thank You 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Abdullah Al Galib</dc:creator>
  <cp:lastModifiedBy>Abdullah Al Galib</cp:lastModifiedBy>
  <cp:revision>2</cp:revision>
  <dcterms:created xsi:type="dcterms:W3CDTF">2026-04-03T11:35:28Z</dcterms:created>
  <dcterms:modified xsi:type="dcterms:W3CDTF">2026-04-03T17:37:16Z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