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61" r:id="rId7"/>
    <p:sldId id="286" r:id="rId8"/>
    <p:sldId id="287" r:id="rId9"/>
    <p:sldId id="288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2" r:id="rId21"/>
    <p:sldId id="303" r:id="rId22"/>
    <p:sldId id="304" r:id="rId23"/>
    <p:sldId id="305" r:id="rId24"/>
    <p:sldId id="306" r:id="rId25"/>
    <p:sldId id="307" r:id="rId26"/>
    <p:sldId id="260" r:id="rId27"/>
    <p:sldId id="308" r:id="rId28"/>
    <p:sldId id="310" r:id="rId29"/>
    <p:sldId id="311" r:id="rId30"/>
    <p:sldId id="312" r:id="rId31"/>
    <p:sldId id="26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0867" y="3143945"/>
            <a:ext cx="7250263" cy="570109"/>
          </a:xfrm>
        </p:spPr>
        <p:txBody>
          <a:bodyPr/>
          <a:lstStyle/>
          <a:p>
            <a:r>
              <a:rPr lang="en-US" sz="3200" dirty="0"/>
              <a:t>Canteen Vendor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460" y="4059141"/>
            <a:ext cx="3003079" cy="3776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dirty="0"/>
              <a:t>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E5332-ED74-90AC-D9CC-326A5482F43A}"/>
              </a:ext>
            </a:extLst>
          </p:cNvPr>
          <p:cNvSpPr txBox="1"/>
          <p:nvPr/>
        </p:nvSpPr>
        <p:spPr>
          <a:xfrm>
            <a:off x="954156" y="1327868"/>
            <a:ext cx="5987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  <a:latin typeface="+mj-lt"/>
              </a:rPr>
              <a:t>Data Collection &amp; Participants</a:t>
            </a:r>
            <a:endParaRPr lang="en-US" sz="3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2B80A-453D-6220-A3C1-04B9F51F2E62}"/>
              </a:ext>
            </a:extLst>
          </p:cNvPr>
          <p:cNvSpPr txBox="1"/>
          <p:nvPr/>
        </p:nvSpPr>
        <p:spPr>
          <a:xfrm>
            <a:off x="289922" y="2596830"/>
            <a:ext cx="87246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chemeClr val="bg1"/>
                </a:solidFill>
                <a:latin typeface="Noto-Sans-Bold"/>
              </a:rPr>
              <a:t>How We Gathered Information: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Conducted an online survey using Google Forms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Shared through university groups and social media</a:t>
            </a:r>
            <a:endParaRPr lang="en-US" sz="2400" dirty="0">
              <a:solidFill>
                <a:schemeClr val="bg1"/>
              </a:solidFill>
              <a:latin typeface="Noto-San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Collected both structured and open-ended responses</a:t>
            </a:r>
          </a:p>
          <a:p>
            <a:pPr algn="l"/>
            <a:endParaRPr lang="en-US" sz="2400" b="0" i="0" u="none" strike="noStrike" baseline="0" dirty="0">
              <a:solidFill>
                <a:schemeClr val="bg1"/>
              </a:solidFill>
              <a:latin typeface="Noto-Sans"/>
            </a:endParaRPr>
          </a:p>
          <a:p>
            <a:pPr algn="l"/>
            <a:r>
              <a:rPr lang="en-US" sz="2400" b="1" i="0" u="none" strike="noStrike" baseline="0" dirty="0">
                <a:solidFill>
                  <a:schemeClr val="bg1"/>
                </a:solidFill>
                <a:latin typeface="Noto-Sans-Bold"/>
              </a:rPr>
              <a:t>Participants: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Age: 18–30 years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Gender: Mixed (Male &amp; Female)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Occupation: University Students (majority) - Faculty/Seniors (few)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s response chart. Question title: What is your age group?. Number of responses: 45 responses.">
            <a:extLst>
              <a:ext uri="{FF2B5EF4-FFF2-40B4-BE49-F238E27FC236}">
                <a16:creationId xmlns:a16="http://schemas.microsoft.com/office/drawing/2014/main" id="{E4DF5221-C74A-0C9B-113D-DBE0C5417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DA34BA-A814-9E0A-7E92-BEF42E0C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2050" name="Picture 2" descr="Forms response chart. Question title: Gender. Number of responses: 45 responses.">
            <a:extLst>
              <a:ext uri="{FF2B5EF4-FFF2-40B4-BE49-F238E27FC236}">
                <a16:creationId xmlns:a16="http://schemas.microsoft.com/office/drawing/2014/main" id="{5237D13D-BD73-44C6-3AD1-18B84AB95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12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orms response chart. Question title: Occupation. Number of responses: 45 responses.">
            <a:extLst>
              <a:ext uri="{FF2B5EF4-FFF2-40B4-BE49-F238E27FC236}">
                <a16:creationId xmlns:a16="http://schemas.microsoft.com/office/drawing/2014/main" id="{815A3E28-A33A-365B-3B47-9C7DF63C6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761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orms response chart. Question title: Do you think the current canteen vendor selection system is fair?. Number of responses: 45 responses.">
            <a:extLst>
              <a:ext uri="{FF2B5EF4-FFF2-40B4-BE49-F238E27FC236}">
                <a16:creationId xmlns:a16="http://schemas.microsoft.com/office/drawing/2014/main" id="{A731C3F4-6270-3710-80FB-5FAEC059E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9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4D9666-C2B8-0EA1-80EA-335267C5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7170" name="Picture 2" descr="Forms response chart. Question title: Do you want a transparent system for selecting canteen vendors?. Number of responses: 45 responses.">
            <a:extLst>
              <a:ext uri="{FF2B5EF4-FFF2-40B4-BE49-F238E27FC236}">
                <a16:creationId xmlns:a16="http://schemas.microsoft.com/office/drawing/2014/main" id="{3F1C0456-4739-8FC7-A2A7-666AFB196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19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E15AF-D735-DD72-6E39-65B755FC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8194" name="Picture 2" descr="Forms response chart. Question title: Should different authority roles (admin, committee, staff) have different access levels?. Number of responses: 45 responses.">
            <a:extLst>
              <a:ext uri="{FF2B5EF4-FFF2-40B4-BE49-F238E27FC236}">
                <a16:creationId xmlns:a16="http://schemas.microsoft.com/office/drawing/2014/main" id="{C6E12BED-B033-E994-5809-5DE25792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17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443F6A-CB51-B681-4613-257D9BBE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9218" name="Picture 2" descr="Forms response chart. Question title: Should authorities be able to compare multiple vendors side-by-side?. Number of responses: 45 responses.">
            <a:extLst>
              <a:ext uri="{FF2B5EF4-FFF2-40B4-BE49-F238E27FC236}">
                <a16:creationId xmlns:a16="http://schemas.microsoft.com/office/drawing/2014/main" id="{1F646B71-6BC0-B977-95A3-400F4ADCC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996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E09D7E-5833-96EA-D585-031D00D3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10242" name="Picture 2" descr="Forms response chart. Question title: What should be the main criteria for authorities when selecting vendors?. Number of responses: 45 responses.">
            <a:extLst>
              <a:ext uri="{FF2B5EF4-FFF2-40B4-BE49-F238E27FC236}">
                <a16:creationId xmlns:a16="http://schemas.microsoft.com/office/drawing/2014/main" id="{3F7C17AC-F046-BDD1-DFF3-81ABC0670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604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CFCA84-230F-775E-1CFE-AA9B23FB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11266" name="Picture 2" descr="Forms response chart. Question title: Should authorities have final decision power even after student voting?. Number of responses: 45 responses.">
            <a:extLst>
              <a:ext uri="{FF2B5EF4-FFF2-40B4-BE49-F238E27FC236}">
                <a16:creationId xmlns:a16="http://schemas.microsoft.com/office/drawing/2014/main" id="{41984D09-036B-B0AB-4EB3-1AD641521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378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D609EC-87CD-BE9B-2F86-715C68A9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12290" name="Picture 2" descr="Forms response chart. Question title: How important is food hygiene for you?. Number of responses: 45 responses.">
            <a:extLst>
              <a:ext uri="{FF2B5EF4-FFF2-40B4-BE49-F238E27FC236}">
                <a16:creationId xmlns:a16="http://schemas.microsoft.com/office/drawing/2014/main" id="{8427D9D3-22B6-D0FD-8984-7C607F9DF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936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EF3E5F-798A-D31E-1B1F-C079E9B4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13314" name="Picture 2" descr="Forms response chart. Question title: Should students be able to rate and review vendors?. Number of responses: 45 responses.">
            <a:extLst>
              <a:ext uri="{FF2B5EF4-FFF2-40B4-BE49-F238E27FC236}">
                <a16:creationId xmlns:a16="http://schemas.microsoft.com/office/drawing/2014/main" id="{B481A6F9-13E4-83A3-CF14-C1E1FBDD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656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8F8823-DE4A-FB6D-CC59-84E896FB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14338" name="Picture 2" descr="Forms response chart. Question title: Do you want an online complaint/feedback system?&#10;. Number of responses: 45 responses.">
            <a:extLst>
              <a:ext uri="{FF2B5EF4-FFF2-40B4-BE49-F238E27FC236}">
                <a16:creationId xmlns:a16="http://schemas.microsoft.com/office/drawing/2014/main" id="{F5ACCDC4-FFF3-2167-4837-47F6264AF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30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F0118-269E-B6BC-064F-F9517F99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15362" name="Picture 2" descr="Forms response chart. Question title: How useful would a meeting scheduling system for vendor selection be?. Number of responses: 45 responses.">
            <a:extLst>
              <a:ext uri="{FF2B5EF4-FFF2-40B4-BE49-F238E27FC236}">
                <a16:creationId xmlns:a16="http://schemas.microsoft.com/office/drawing/2014/main" id="{C81859EB-E442-B774-0212-3AA993246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830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C2E55D-923B-8F60-F075-C28177F2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16386" name="Picture 2" descr="Forms response chart. Question title: Do you support anonymous student voting for vendor selection?&#10;. Number of responses: 45 responses.">
            <a:extLst>
              <a:ext uri="{FF2B5EF4-FFF2-40B4-BE49-F238E27FC236}">
                <a16:creationId xmlns:a16="http://schemas.microsoft.com/office/drawing/2014/main" id="{D8E9C981-BD1F-5DEB-98C3-70A386ACC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436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E47DA6-24FC-9AA7-70B3-4184301D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17</a:t>
            </a:fld>
            <a:endParaRPr lang="en-US" noProof="0" dirty="0"/>
          </a:p>
        </p:txBody>
      </p:sp>
      <p:pic>
        <p:nvPicPr>
          <p:cNvPr id="18434" name="Picture 2" descr="Forms response chart. Question title: How should vendors be selected based on bidding?. Number of responses: 45 responses.">
            <a:extLst>
              <a:ext uri="{FF2B5EF4-FFF2-40B4-BE49-F238E27FC236}">
                <a16:creationId xmlns:a16="http://schemas.microsoft.com/office/drawing/2014/main" id="{697FCFC9-8677-A581-327F-95F56E7A4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157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FC805-761E-D941-3C62-3C7047B1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19458" name="Picture 2" descr="Forms response chart. Question title: Should vendor bidding details be visible to students?&#10;. Number of responses: 45 responses.">
            <a:extLst>
              <a:ext uri="{FF2B5EF4-FFF2-40B4-BE49-F238E27FC236}">
                <a16:creationId xmlns:a16="http://schemas.microsoft.com/office/drawing/2014/main" id="{A22F496B-4192-7FA0-AB46-FDF983D4F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467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C8BA39-DCD2-B34D-5A0D-93E90B00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20482" name="Picture 2" descr="Forms response chart. Question title: Do you think this system will improve food quality?&#10;. Number of responses: 45 responses.">
            <a:extLst>
              <a:ext uri="{FF2B5EF4-FFF2-40B4-BE49-F238E27FC236}">
                <a16:creationId xmlns:a16="http://schemas.microsoft.com/office/drawing/2014/main" id="{F7D26ED1-C372-44D1-DC16-B5BCC2BA8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534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D160D9-2529-4D74-F983-211AB62B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pic>
        <p:nvPicPr>
          <p:cNvPr id="21506" name="Picture 2" descr="Forms response chart. Question title: How satisfied are you with current canteen food quality?. Number of responses: 45 responses.">
            <a:extLst>
              <a:ext uri="{FF2B5EF4-FFF2-40B4-BE49-F238E27FC236}">
                <a16:creationId xmlns:a16="http://schemas.microsoft.com/office/drawing/2014/main" id="{2B0B26AD-D5E2-80DC-F09F-EF235B012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548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6521ED-67C6-DF52-7F56-4241AB48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21</a:t>
            </a:fld>
            <a:endParaRPr lang="en-US" noProof="0" dirty="0"/>
          </a:p>
        </p:txBody>
      </p:sp>
      <p:pic>
        <p:nvPicPr>
          <p:cNvPr id="22530" name="Picture 2" descr="Forms response chart. Question title: What is the biggest problem with current vendors? (Multiple choice). Number of responses: 45 responses.">
            <a:extLst>
              <a:ext uri="{FF2B5EF4-FFF2-40B4-BE49-F238E27FC236}">
                <a16:creationId xmlns:a16="http://schemas.microsoft.com/office/drawing/2014/main" id="{34F334B9-FDFF-7169-7332-376043589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843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946082-F680-F427-22B4-6C99E034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22</a:t>
            </a:fld>
            <a:endParaRPr lang="en-US" noProof="0" dirty="0"/>
          </a:p>
        </p:txBody>
      </p:sp>
      <p:pic>
        <p:nvPicPr>
          <p:cNvPr id="23554" name="Picture 2" descr="Forms response chart. Question title: Which factor is most important when selecting a vendor?. Number of responses: 45 responses.">
            <a:extLst>
              <a:ext uri="{FF2B5EF4-FFF2-40B4-BE49-F238E27FC236}">
                <a16:creationId xmlns:a16="http://schemas.microsoft.com/office/drawing/2014/main" id="{655AA097-5958-06E4-0B46-89E03F10A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981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97558-874A-E4A8-90A7-DFEC91DD77FA}"/>
              </a:ext>
            </a:extLst>
          </p:cNvPr>
          <p:cNvSpPr txBox="1"/>
          <p:nvPr/>
        </p:nvSpPr>
        <p:spPr>
          <a:xfrm>
            <a:off x="552616" y="1345960"/>
            <a:ext cx="4830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accent2"/>
                </a:solidFill>
                <a:latin typeface="+mj-lt"/>
              </a:rPr>
              <a:t>Questionnaire Overview</a:t>
            </a:r>
            <a:endParaRPr lang="en-US" sz="3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E8DF35-780A-BF06-F18B-94C8991E85E4}"/>
              </a:ext>
            </a:extLst>
          </p:cNvPr>
          <p:cNvSpPr txBox="1"/>
          <p:nvPr/>
        </p:nvSpPr>
        <p:spPr>
          <a:xfrm>
            <a:off x="552616" y="2841524"/>
            <a:ext cx="609865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chemeClr val="bg1"/>
                </a:solidFill>
                <a:latin typeface="Noto-Sans-Bold"/>
              </a:rPr>
              <a:t>Key Questions Included:</a:t>
            </a:r>
          </a:p>
          <a:p>
            <a:pPr algn="l"/>
            <a:endParaRPr lang="en-US" sz="2000" b="1" i="0" u="none" strike="noStrike" baseline="0" dirty="0">
              <a:solidFill>
                <a:schemeClr val="bg1"/>
              </a:solidFill>
              <a:latin typeface="Noto-Sans-Bold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Noto-Sans"/>
              </a:rPr>
              <a:t>Do you think vendor selection should be transparent?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Noto-Sans"/>
              </a:rPr>
              <a:t>How important is food hygiene in canteens?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Noto-Sans"/>
              </a:rPr>
              <a:t>Should students be able to rate vendors?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Noto-Sans"/>
              </a:rPr>
              <a:t>Do you support a monitoring system by authorities?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Noto-Sans"/>
              </a:rPr>
              <a:t>Should vendors be selected through a competitive bidding process based on price, quality, and hygiene standards?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B7A159-2D17-5627-C7F4-8F0F085A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EABB8-0D04-FFE7-C804-D2FC537F5C05}"/>
              </a:ext>
            </a:extLst>
          </p:cNvPr>
          <p:cNvSpPr txBox="1"/>
          <p:nvPr/>
        </p:nvSpPr>
        <p:spPr>
          <a:xfrm>
            <a:off x="352837" y="2042366"/>
            <a:ext cx="55304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Noto-Sans"/>
              </a:rPr>
              <a:t>Vendor Comparison Tools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Vendor Registration &amp; Proposal Submission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Noto-Sans"/>
              </a:rPr>
              <a:t>Meeting Management System</a:t>
            </a:r>
            <a:endParaRPr lang="en-US" sz="2400" b="0" i="0" u="none" strike="noStrike" baseline="0" dirty="0">
              <a:solidFill>
                <a:schemeClr val="bg1"/>
              </a:solidFill>
              <a:latin typeface="Noto-San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Student Rating &amp; Review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Hygiene &amp; Safety Monitoring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Authority Dashboard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Complaint &amp; Feedback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Performance Analytics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950AE-FB75-92BD-6BD4-A8D5B8A2D80E}"/>
              </a:ext>
            </a:extLst>
          </p:cNvPr>
          <p:cNvSpPr txBox="1"/>
          <p:nvPr/>
        </p:nvSpPr>
        <p:spPr>
          <a:xfrm>
            <a:off x="352837" y="517000"/>
            <a:ext cx="35204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accent2"/>
                </a:solidFill>
                <a:latin typeface="+mj-lt"/>
              </a:rPr>
              <a:t>Feasible Features</a:t>
            </a:r>
            <a:endParaRPr lang="en-US" sz="320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5153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2723-6AE5-1945-E8CD-0FC392C1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0D77A-F9AE-E992-9404-82F7469CEAD8}"/>
              </a:ext>
            </a:extLst>
          </p:cNvPr>
          <p:cNvSpPr txBox="1"/>
          <p:nvPr/>
        </p:nvSpPr>
        <p:spPr>
          <a:xfrm>
            <a:off x="3090966" y="2890391"/>
            <a:ext cx="60100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trike="sngStrike" dirty="0">
                <a:solidFill>
                  <a:schemeClr val="bg1"/>
                </a:solidFill>
                <a:latin typeface="Noto-Sans"/>
              </a:rPr>
              <a:t>Food Item(s) Wishlist Integration</a:t>
            </a:r>
          </a:p>
          <a:p>
            <a:r>
              <a:rPr lang="en-US" sz="3200" strike="sngStrike" dirty="0">
                <a:solidFill>
                  <a:schemeClr val="bg1"/>
                </a:solidFill>
                <a:latin typeface="Noto-Sans"/>
              </a:rPr>
              <a:t>Event-based Vendor Selection</a:t>
            </a:r>
            <a:endParaRPr lang="en-US" sz="3200" strike="sngStrike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F6BA7-2F49-4EE2-6B0F-D3398612E47C}"/>
              </a:ext>
            </a:extLst>
          </p:cNvPr>
          <p:cNvSpPr txBox="1"/>
          <p:nvPr/>
        </p:nvSpPr>
        <p:spPr>
          <a:xfrm>
            <a:off x="171216" y="501471"/>
            <a:ext cx="3451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accent2"/>
                </a:solidFill>
                <a:latin typeface="Noto-Sans-Bold"/>
              </a:rPr>
              <a:t>Features to Discard</a:t>
            </a:r>
          </a:p>
        </p:txBody>
      </p:sp>
    </p:spTree>
    <p:extLst>
      <p:ext uri="{BB962C8B-B14F-4D97-AF65-F5344CB8AC3E}">
        <p14:creationId xmlns:p14="http://schemas.microsoft.com/office/powerpoint/2010/main" val="3999293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53C580-18C7-92D4-9E30-B84FAE80BECA}"/>
              </a:ext>
            </a:extLst>
          </p:cNvPr>
          <p:cNvSpPr txBox="1"/>
          <p:nvPr/>
        </p:nvSpPr>
        <p:spPr>
          <a:xfrm>
            <a:off x="427054" y="2736501"/>
            <a:ext cx="471141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oto-Sans-Bold"/>
              </a:rPr>
              <a:t>Strengths :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Noto-Sans-Bold"/>
              </a:rPr>
              <a:t>Strong positive user feedback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Noto-Sans-Bold"/>
              </a:rPr>
              <a:t>Solves real problem (food safety issue)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Noto-Sans-Bold"/>
              </a:rPr>
              <a:t>Improves transparency in vendor selection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Noto-Sans-Bold"/>
              </a:rPr>
              <a:t>Useful for both students &amp; authority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71895-7E5E-8C4A-EB18-C6554BA392B1}"/>
              </a:ext>
            </a:extLst>
          </p:cNvPr>
          <p:cNvSpPr txBox="1"/>
          <p:nvPr/>
        </p:nvSpPr>
        <p:spPr>
          <a:xfrm>
            <a:off x="0" y="601364"/>
            <a:ext cx="7210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accent2"/>
                </a:solidFill>
                <a:latin typeface="Noto-Sans-Bold"/>
              </a:rPr>
              <a:t>SWOT Analysis (Strengths &amp; Weaknesses)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4D13CD-568E-0114-3FA9-C7721610642B}"/>
              </a:ext>
            </a:extLst>
          </p:cNvPr>
          <p:cNvSpPr txBox="1"/>
          <p:nvPr/>
        </p:nvSpPr>
        <p:spPr>
          <a:xfrm>
            <a:off x="7053536" y="2459503"/>
            <a:ext cx="40565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oto-Sans-Bold"/>
              </a:rPr>
              <a:t>Weaknesses:</a:t>
            </a:r>
          </a:p>
          <a:p>
            <a:endParaRPr lang="en-US" sz="1800" b="1" dirty="0">
              <a:solidFill>
                <a:schemeClr val="bg1"/>
              </a:solidFill>
              <a:latin typeface="Noto-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Noto-Sans-Bold"/>
              </a:rPr>
              <a:t>Depends on active student participation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Noto-Sans-Bold"/>
              </a:rPr>
              <a:t>Data authenticity (fake reviews possible)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Noto-Sans-Bold"/>
              </a:rPr>
              <a:t>Requires proper authority involvement</a:t>
            </a:r>
          </a:p>
        </p:txBody>
      </p:sp>
    </p:spTree>
    <p:extLst>
      <p:ext uri="{BB962C8B-B14F-4D97-AF65-F5344CB8AC3E}">
        <p14:creationId xmlns:p14="http://schemas.microsoft.com/office/powerpoint/2010/main" val="2353102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FFC2FB4-EB48-2A15-5374-C4A7826B03C8}"/>
              </a:ext>
            </a:extLst>
          </p:cNvPr>
          <p:cNvSpPr txBox="1"/>
          <p:nvPr/>
        </p:nvSpPr>
        <p:spPr>
          <a:xfrm>
            <a:off x="425376" y="2014119"/>
            <a:ext cx="609467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oto-Sans-Bold"/>
              </a:rPr>
              <a:t>Opportunities: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r>
              <a:rPr lang="en-US" b="1" dirty="0">
                <a:solidFill>
                  <a:schemeClr val="bg1"/>
                </a:solidFill>
                <a:latin typeface="Noto-Sans-Bold"/>
              </a:rPr>
              <a:t>Can expand to: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Other universities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Corporate cafeterias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r>
              <a:rPr lang="en-US" b="1" dirty="0">
                <a:solidFill>
                  <a:schemeClr val="bg1"/>
                </a:solidFill>
                <a:latin typeface="Noto-Sans-Bold"/>
              </a:rPr>
              <a:t>Integration with: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Online food ordering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Health inspection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Can become a standard campus solution in Bangladesh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F551C3-CB1B-846F-86D3-1EBA8FE288B5}"/>
              </a:ext>
            </a:extLst>
          </p:cNvPr>
          <p:cNvSpPr txBox="1"/>
          <p:nvPr/>
        </p:nvSpPr>
        <p:spPr>
          <a:xfrm>
            <a:off x="0" y="434487"/>
            <a:ext cx="6945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solidFill>
                  <a:schemeClr val="accent2"/>
                </a:solidFill>
                <a:latin typeface="+mj-lt"/>
              </a:rPr>
              <a:t>SWOT Analysis (Opportunities &amp; Threats)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7E14C-1D3E-5195-0213-AC98D22B0D9E}"/>
              </a:ext>
            </a:extLst>
          </p:cNvPr>
          <p:cNvSpPr txBox="1"/>
          <p:nvPr/>
        </p:nvSpPr>
        <p:spPr>
          <a:xfrm>
            <a:off x="6945427" y="2706616"/>
            <a:ext cx="389698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oto-Sans-Bold"/>
              </a:rPr>
              <a:t>Threats:</a:t>
            </a:r>
          </a:p>
          <a:p>
            <a:endParaRPr lang="en-US" sz="1800" b="1" dirty="0">
              <a:solidFill>
                <a:schemeClr val="bg1"/>
              </a:solidFill>
              <a:latin typeface="Noto-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Noto-Sans-Bold"/>
              </a:rPr>
              <a:t>Resistance from existing vendors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Noto-Sans-Bold"/>
              </a:rPr>
              <a:t>Lack of cooperation from authorities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Noto-Sans-Bold"/>
              </a:rPr>
              <a:t>Competing manual/traditional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Noto-Sans-Bold"/>
              </a:rPr>
              <a:t>Data misuse or biased ratings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879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9849" y="3429000"/>
            <a:ext cx="3542883" cy="124358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Thank You</a:t>
            </a:r>
            <a:endParaRPr lang="en-GB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110</TotalTime>
  <Words>293</Words>
  <Application>Microsoft Office PowerPoint</Application>
  <PresentationFormat>Widescreen</PresentationFormat>
  <Paragraphs>85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Noto-Sans</vt:lpstr>
      <vt:lpstr>Noto-Sans-Bold</vt:lpstr>
      <vt:lpstr>Trade Gothic LT Pro</vt:lpstr>
      <vt:lpstr>Trebuchet MS</vt:lpstr>
      <vt:lpstr>Office Theme</vt:lpstr>
      <vt:lpstr>Canteen Vendor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Al Galib</dc:creator>
  <cp:lastModifiedBy>Abdullah Al Galib</cp:lastModifiedBy>
  <cp:revision>5</cp:revision>
  <dcterms:created xsi:type="dcterms:W3CDTF">2026-04-10T13:46:02Z</dcterms:created>
  <dcterms:modified xsi:type="dcterms:W3CDTF">2026-04-10T18:36:26Z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